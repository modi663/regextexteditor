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ter" panose="02000503000000020004" pitchFamily="2" charset="0"/>
      <p:regular r:id="rId22"/>
      <p:bold r:id="rId23"/>
      <p:italic r:id="rId24"/>
      <p:boldItalic r:id="rId25"/>
    </p:embeddedFont>
    <p:embeddedFont>
      <p:font typeface="Inter Bold" panose="02000503000000020004" pitchFamily="2" charset="0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1D7"/>
    <a:srgbClr val="DAD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81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22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2250" y="1227386"/>
            <a:ext cx="860881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Текстовый редактор с поиском и заменой по регулярным выражениям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22250" y="2113360"/>
            <a:ext cx="86088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Курсовая работа по дисциплине «Программирование на языке C#»</a:t>
            </a: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846911-C746-0FEF-DB37-A1F685C18BF2}"/>
              </a:ext>
            </a:extLst>
          </p:cNvPr>
          <p:cNvSpPr txBox="1"/>
          <p:nvPr/>
        </p:nvSpPr>
        <p:spPr>
          <a:xfrm>
            <a:off x="222250" y="5257105"/>
            <a:ext cx="56007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LID4096" sz="1400" dirty="0">
                <a:solidFill>
                  <a:srgbClr val="666666"/>
                </a:solidFill>
                <a:latin typeface="Inter" panose="02000503000000020004" pitchFamily="2" charset="0"/>
                <a:ea typeface="Inter" panose="02000503000000020004" pitchFamily="2" charset="0"/>
              </a:rPr>
              <a:t>Выполнил: Бербека Вадим Вадимович</a:t>
            </a:r>
          </a:p>
          <a:p>
            <a:r>
              <a:rPr lang="LID4096" sz="1400" dirty="0">
                <a:solidFill>
                  <a:srgbClr val="666666"/>
                </a:solidFill>
                <a:latin typeface="Inter" panose="02000503000000020004" pitchFamily="2" charset="0"/>
                <a:ea typeface="Inter" panose="02000503000000020004" pitchFamily="2" charset="0"/>
              </a:rPr>
              <a:t>Группа: ФТ25ДР62ПФ</a:t>
            </a:r>
          </a:p>
          <a:p>
            <a:endParaRPr lang="LID4096" sz="1400" dirty="0">
              <a:solidFill>
                <a:srgbClr val="66666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LID4096" sz="1400" dirty="0">
                <a:solidFill>
                  <a:srgbClr val="666666"/>
                </a:solidFill>
                <a:latin typeface="Inter" panose="02000503000000020004" pitchFamily="2" charset="0"/>
                <a:ea typeface="Inter" panose="02000503000000020004" pitchFamily="2" charset="0"/>
              </a:rPr>
              <a:t>Руководитель: Калинкова Елена Вячеславовна</a:t>
            </a:r>
          </a:p>
          <a:p>
            <a:endParaRPr lang="LID4096" sz="1400" dirty="0">
              <a:solidFill>
                <a:srgbClr val="666666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r>
              <a:rPr lang="LID4096" sz="1400" dirty="0">
                <a:solidFill>
                  <a:srgbClr val="666666"/>
                </a:solidFill>
                <a:latin typeface="Inter" panose="02000503000000020004" pitchFamily="2" charset="0"/>
                <a:ea typeface="Inter" panose="02000503000000020004" pitchFamily="2" charset="0"/>
              </a:rPr>
              <a:t>Тирасполь,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742950"/>
            <a:ext cx="42392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тема важна?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93" y="1469454"/>
            <a:ext cx="86088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Текстовые данные часто требуют поиска не конкретной строки, а фрагмента по заданному шаблону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93" y="1855738"/>
            <a:ext cx="262264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2002259"/>
            <a:ext cx="22750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Много текстовых данных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2714" y="2308771"/>
            <a:ext cx="23296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документы, код, логи, конфигурации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855738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7122" y="2002259"/>
            <a:ext cx="2329681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Обычный поиск ограничен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7122" y="2530227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ищет только точное совпадение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1855738"/>
            <a:ext cx="2622724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1605" y="2002259"/>
            <a:ext cx="21314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Regex ищет по шаблону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71605" y="2308771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числа, даты, пробелы, email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193" y="3050679"/>
            <a:ext cx="8151614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714" y="3197200"/>
            <a:ext cx="28538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автоматизирует работу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2714" y="3503712"/>
            <a:ext cx="78585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можно быстро менять однотипные фрагменты</a:t>
            </a:r>
            <a:endParaRPr lang="en-US" sz="1100" dirty="0"/>
          </a:p>
        </p:txBody>
      </p: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8D85BBAD-EA29-4064-A270-7B4B888C9051}"/>
              </a:ext>
            </a:extLst>
          </p:cNvPr>
          <p:cNvGrpSpPr/>
          <p:nvPr/>
        </p:nvGrpSpPr>
        <p:grpSpPr>
          <a:xfrm>
            <a:off x="495598" y="4862222"/>
            <a:ext cx="8152209" cy="738472"/>
            <a:chOff x="266698" y="5512312"/>
            <a:chExt cx="8694422" cy="822468"/>
          </a:xfrm>
        </p:grpSpPr>
        <p:sp>
          <p:nvSpPr>
            <p:cNvPr id="29" name="Прямоугольник: скругленные углы 28">
              <a:extLst>
                <a:ext uri="{FF2B5EF4-FFF2-40B4-BE49-F238E27FC236}">
                  <a16:creationId xmlns:a16="http://schemas.microsoft.com/office/drawing/2014/main" id="{E28503C3-F2C9-ADC7-6674-75868055994F}"/>
                </a:ext>
              </a:extLst>
            </p:cNvPr>
            <p:cNvSpPr/>
            <p:nvPr/>
          </p:nvSpPr>
          <p:spPr>
            <a:xfrm>
              <a:off x="266698" y="5512312"/>
              <a:ext cx="8694422" cy="822468"/>
            </a:xfrm>
            <a:prstGeom prst="roundRect">
              <a:avLst>
                <a:gd name="adj" fmla="val 26276"/>
              </a:avLst>
            </a:prstGeom>
            <a:solidFill>
              <a:srgbClr val="DADBF1"/>
            </a:solidFill>
            <a:ln>
              <a:solidFill>
                <a:srgbClr val="C0C1D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0" name="Прямоугольник: скругленные углы 29">
              <a:extLst>
                <a:ext uri="{FF2B5EF4-FFF2-40B4-BE49-F238E27FC236}">
                  <a16:creationId xmlns:a16="http://schemas.microsoft.com/office/drawing/2014/main" id="{1FE35F42-7767-7807-F271-B8E4CCB70EA9}"/>
                </a:ext>
              </a:extLst>
            </p:cNvPr>
            <p:cNvSpPr/>
            <p:nvPr/>
          </p:nvSpPr>
          <p:spPr>
            <a:xfrm>
              <a:off x="337026" y="5583414"/>
              <a:ext cx="1567974" cy="680264"/>
            </a:xfrm>
            <a:prstGeom prst="roundRect">
              <a:avLst>
                <a:gd name="adj" fmla="val 23338"/>
              </a:avLst>
            </a:prstGeom>
            <a:solidFill>
              <a:srgbClr val="FFFFFF"/>
            </a:solidFill>
            <a:ln w="12700">
              <a:solidFill>
                <a:srgbClr val="C7C7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Текст</a:t>
              </a:r>
              <a:endParaRPr lang="LID4096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1" name="Прямоугольник: скругленные углы 30">
              <a:extLst>
                <a:ext uri="{FF2B5EF4-FFF2-40B4-BE49-F238E27FC236}">
                  <a16:creationId xmlns:a16="http://schemas.microsoft.com/office/drawing/2014/main" id="{7F5B1F3B-FA78-2633-7B95-AC1E20176F20}"/>
                </a:ext>
              </a:extLst>
            </p:cNvPr>
            <p:cNvSpPr/>
            <p:nvPr/>
          </p:nvSpPr>
          <p:spPr>
            <a:xfrm>
              <a:off x="2572900" y="5583414"/>
              <a:ext cx="1567974" cy="680264"/>
            </a:xfrm>
            <a:prstGeom prst="roundRect">
              <a:avLst>
                <a:gd name="adj" fmla="val 23338"/>
              </a:avLst>
            </a:prstGeom>
            <a:solidFill>
              <a:srgbClr val="FFFFFF"/>
            </a:solidFill>
            <a:ln w="12700">
              <a:solidFill>
                <a:srgbClr val="C7C7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Regex</a:t>
              </a:r>
              <a:endParaRPr lang="LID4096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" name="Прямоугольник: скругленные углы 31">
              <a:extLst>
                <a:ext uri="{FF2B5EF4-FFF2-40B4-BE49-F238E27FC236}">
                  <a16:creationId xmlns:a16="http://schemas.microsoft.com/office/drawing/2014/main" id="{68C94A3D-9C97-1828-A2BC-45F912C3A889}"/>
                </a:ext>
              </a:extLst>
            </p:cNvPr>
            <p:cNvSpPr/>
            <p:nvPr/>
          </p:nvSpPr>
          <p:spPr>
            <a:xfrm>
              <a:off x="5085532" y="5583414"/>
              <a:ext cx="1567974" cy="680264"/>
            </a:xfrm>
            <a:prstGeom prst="roundRect">
              <a:avLst>
                <a:gd name="adj" fmla="val 23338"/>
              </a:avLst>
            </a:prstGeom>
            <a:solidFill>
              <a:srgbClr val="FFFFFF"/>
            </a:solidFill>
            <a:ln w="12700">
              <a:solidFill>
                <a:srgbClr val="C7C7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Поиск</a:t>
              </a:r>
              <a:endParaRPr lang="LID4096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3" name="Прямоугольник: скругленные углы 32">
              <a:extLst>
                <a:ext uri="{FF2B5EF4-FFF2-40B4-BE49-F238E27FC236}">
                  <a16:creationId xmlns:a16="http://schemas.microsoft.com/office/drawing/2014/main" id="{23AA796D-24F3-2D50-CE1F-B108FE94E551}"/>
                </a:ext>
              </a:extLst>
            </p:cNvPr>
            <p:cNvSpPr/>
            <p:nvPr/>
          </p:nvSpPr>
          <p:spPr>
            <a:xfrm>
              <a:off x="7321406" y="5583414"/>
              <a:ext cx="1567974" cy="680264"/>
            </a:xfrm>
            <a:prstGeom prst="roundRect">
              <a:avLst>
                <a:gd name="adj" fmla="val 23338"/>
              </a:avLst>
            </a:prstGeom>
            <a:solidFill>
              <a:srgbClr val="FFFFFF"/>
            </a:solidFill>
            <a:ln w="12700">
              <a:solidFill>
                <a:srgbClr val="C7C7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Замена</a:t>
              </a:r>
              <a:endParaRPr lang="LID4096" sz="20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34" name="Прямая со стрелкой 33">
              <a:extLst>
                <a:ext uri="{FF2B5EF4-FFF2-40B4-BE49-F238E27FC236}">
                  <a16:creationId xmlns:a16="http://schemas.microsoft.com/office/drawing/2014/main" id="{14D438DD-E695-544F-5C41-FFAAF1F5F45A}"/>
                </a:ext>
              </a:extLst>
            </p:cNvPr>
            <p:cNvCxnSpPr>
              <a:cxnSpLocks/>
              <a:stCxn id="30" idx="3"/>
              <a:endCxn id="31" idx="1"/>
            </p:cNvCxnSpPr>
            <p:nvPr/>
          </p:nvCxnSpPr>
          <p:spPr>
            <a:xfrm>
              <a:off x="1905000" y="5923546"/>
              <a:ext cx="667900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 стрелкой 34">
              <a:extLst>
                <a:ext uri="{FF2B5EF4-FFF2-40B4-BE49-F238E27FC236}">
                  <a16:creationId xmlns:a16="http://schemas.microsoft.com/office/drawing/2014/main" id="{0A903F6C-813C-5EC9-2C0A-5092163600CB}"/>
                </a:ext>
              </a:extLst>
            </p:cNvPr>
            <p:cNvCxnSpPr>
              <a:cxnSpLocks/>
              <a:stCxn id="31" idx="3"/>
              <a:endCxn id="32" idx="1"/>
            </p:cNvCxnSpPr>
            <p:nvPr/>
          </p:nvCxnSpPr>
          <p:spPr>
            <a:xfrm>
              <a:off x="4140874" y="5923546"/>
              <a:ext cx="944658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 стрелкой 35">
              <a:extLst>
                <a:ext uri="{FF2B5EF4-FFF2-40B4-BE49-F238E27FC236}">
                  <a16:creationId xmlns:a16="http://schemas.microsoft.com/office/drawing/2014/main" id="{B66165C0-72EE-52B0-90C0-5F7963395CB5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>
              <a:off x="6653506" y="5923546"/>
              <a:ext cx="667900" cy="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59654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Что необходимо разработать?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93" y="1116360"/>
            <a:ext cx="815161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Основная задача работы — создать настольное приложение для обработки текста с помощью регулярных выражений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93" y="1729457"/>
            <a:ext cx="8151614" cy="930176"/>
          </a:xfrm>
          <a:prstGeom prst="roundRect">
            <a:avLst>
              <a:gd name="adj" fmla="val 6401"/>
            </a:avLst>
          </a:prstGeom>
          <a:solidFill>
            <a:srgbClr val="C7C9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52" y="1923008"/>
            <a:ext cx="221456" cy="177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1167" y="190663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01167" y="2269852"/>
            <a:ext cx="79620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Разработать текстовый редактор на C# с поиском и заменой по регулярным выражениям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6193" y="2819102"/>
            <a:ext cx="2622649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2714" y="2965624"/>
            <a:ext cx="232960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Изучить регулярные выражения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60601" y="2819102"/>
            <a:ext cx="2622724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07122" y="2965624"/>
            <a:ext cx="2329681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Выбрать средства разработки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25083" y="2819102"/>
            <a:ext cx="2622724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1605" y="2965624"/>
            <a:ext cx="2329681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Спроектировать структуру проекта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96193" y="3696816"/>
            <a:ext cx="2622649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714" y="3843338"/>
            <a:ext cx="232960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Реализовать работу с файлами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260601" y="3696816"/>
            <a:ext cx="2622724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07122" y="3843338"/>
            <a:ext cx="2329681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Реализовать поиск и замену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025083" y="3696816"/>
            <a:ext cx="2622724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1605" y="3843338"/>
            <a:ext cx="21570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Провести тестирование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425053"/>
            <a:ext cx="4564410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Регулярные выражения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93" y="1101775"/>
            <a:ext cx="860881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Шаблоны, которые позволяют находить фрагменты текста по заданной структуре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93" y="1455762"/>
            <a:ext cx="8151614" cy="507578"/>
          </a:xfrm>
          <a:prstGeom prst="roundRect">
            <a:avLst>
              <a:gd name="adj" fmla="val 11144"/>
            </a:avLst>
          </a:prstGeom>
          <a:solidFill>
            <a:srgbClr val="C7C9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8" y="1644328"/>
            <a:ext cx="168325" cy="134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748" y="1604516"/>
            <a:ext cx="803664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Регулярное выражение описывает правило поиска, а не конкретную строку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96193" y="2107257"/>
            <a:ext cx="8151614" cy="785440"/>
          </a:xfrm>
          <a:prstGeom prst="roundRect">
            <a:avLst>
              <a:gd name="adj" fmla="val 72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71" y="2246635"/>
            <a:ext cx="1683469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\d+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71" y="2543249"/>
            <a:ext cx="787285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числа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6193" y="3020616"/>
            <a:ext cx="8151614" cy="785440"/>
          </a:xfrm>
          <a:prstGeom prst="roundRect">
            <a:avLst>
              <a:gd name="adj" fmla="val 72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71" y="3159993"/>
            <a:ext cx="1683469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[A-Za-z]+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71" y="3456608"/>
            <a:ext cx="787285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латинские слова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96193" y="3933974"/>
            <a:ext cx="8151614" cy="785440"/>
          </a:xfrm>
          <a:prstGeom prst="roundRect">
            <a:avLst>
              <a:gd name="adj" fmla="val 72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71" y="4073351"/>
            <a:ext cx="1683469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\s+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71" y="4369966"/>
            <a:ext cx="787285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пробелы и переносы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96193" y="4847332"/>
            <a:ext cx="8151614" cy="785440"/>
          </a:xfrm>
          <a:prstGeom prst="roundRect">
            <a:avLst>
              <a:gd name="adj" fmla="val 720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71" y="4986710"/>
            <a:ext cx="1791370" cy="219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(\d{2})\.(\d{2})\.(\d{4})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71" y="5283324"/>
            <a:ext cx="787285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дата с группами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96193" y="5776689"/>
            <a:ext cx="8151614" cy="512341"/>
          </a:xfrm>
          <a:prstGeom prst="roundRect">
            <a:avLst>
              <a:gd name="adj" fmla="val 11041"/>
            </a:avLst>
          </a:prstGeom>
          <a:solidFill>
            <a:srgbClr val="B6FCB8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8" y="5965254"/>
            <a:ext cx="168325" cy="13461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33748" y="5925443"/>
            <a:ext cx="8036644" cy="214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\d+</a:t>
            </a: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2026, 1500, 245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416465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Средства разработки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93" y="1066577"/>
            <a:ext cx="860881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реализации приложения использованы C#, .NET 8 и WinUI 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93" y="1420564"/>
            <a:ext cx="8151614" cy="3398267"/>
          </a:xfrm>
          <a:prstGeom prst="roundRect">
            <a:avLst>
              <a:gd name="adj" fmla="val 1665"/>
            </a:avLst>
          </a:prstGeom>
          <a:solidFill>
            <a:srgbClr val="C7C9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8" y="1596703"/>
            <a:ext cx="210369" cy="1683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5792" y="1582117"/>
            <a:ext cx="368744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Технологическая основа приложения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379" y="1936403"/>
            <a:ext cx="7134151" cy="2704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3721" y="2335910"/>
            <a:ext cx="1704818" cy="201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 UI 3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373721" y="2610795"/>
            <a:ext cx="1704818" cy="1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38906" y="2949440"/>
            <a:ext cx="1704818" cy="201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.NET 8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38906" y="3224324"/>
            <a:ext cx="1704818" cy="1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Библиотеки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345185" y="3541567"/>
            <a:ext cx="1704818" cy="201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C#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345185" y="3816451"/>
            <a:ext cx="1704818" cy="1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93" y="4962748"/>
            <a:ext cx="336649" cy="33664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2758" y="4962748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XAML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92758" y="5249838"/>
            <a:ext cx="349924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разметка интерфейса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1921" y="4962748"/>
            <a:ext cx="336649" cy="3366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48486" y="4962748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RichEditBox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148486" y="5249838"/>
            <a:ext cx="349932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область редактирования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93" y="5715744"/>
            <a:ext cx="336649" cy="33664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2758" y="571574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Regex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992758" y="6002834"/>
            <a:ext cx="349924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и замена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1921" y="5715744"/>
            <a:ext cx="336649" cy="336649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148486" y="5715744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 Studio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5148486" y="6002834"/>
            <a:ext cx="3499321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и отладка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785342"/>
            <a:ext cx="3287316" cy="32873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8985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WinUI 3?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496119" y="1045443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11919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WinForms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1498476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классический подход, изученный в рамках курса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8342" y="1045443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74863" y="11919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WinUI 3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74863" y="1498476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современный интерфейс Windows-приложений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2240384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640" y="23869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XAML-разметка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2640" y="2693417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окна описывается декларативно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8342" y="2240384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74863" y="23869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Windows App SDK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074863" y="2693417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актуальный стек для настольных приложений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6119" y="3435325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2640" y="3581846"/>
            <a:ext cx="17860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Практический опыт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42640" y="388835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RichEditBox, выделением и подсветкой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6119" y="4421163"/>
            <a:ext cx="4722763" cy="779562"/>
          </a:xfrm>
          <a:prstGeom prst="roundRect">
            <a:avLst>
              <a:gd name="adj" fmla="val 7638"/>
            </a:avLst>
          </a:prstGeom>
          <a:solidFill>
            <a:srgbClr val="C7C9E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4621932"/>
            <a:ext cx="177180" cy="14175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56816" y="4584129"/>
            <a:ext cx="4120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WinUI 3 сложнее WinForms, но позволяет получить опыт современного интерфейсного фреймворка.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47950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Интерфейс приложения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" y="1914674"/>
            <a:ext cx="3902869" cy="266461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2832" y="120930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10398" y="120491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Строка заголовка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210398" y="1568128"/>
            <a:ext cx="3442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Имя документа и состояние изменений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2832" y="2082850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0398" y="20784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Меню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210398" y="2441674"/>
            <a:ext cx="3442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Файл / Изменить / Просмотр / Справка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2832" y="2956396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10398" y="295200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RichEditBox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210398" y="3315221"/>
            <a:ext cx="3442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Область редактирования, шрифт Consolas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02832" y="3829943"/>
            <a:ext cx="212601" cy="2126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10398" y="38255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Панель Regex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210398" y="4188768"/>
            <a:ext cx="3442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 шаблона, замены, кнопки навигации</a:t>
            </a:r>
            <a:endParaRPr lang="en-US" sz="11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02832" y="4703490"/>
            <a:ext cx="212601" cy="21260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210398" y="469909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Строка состояния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210398" y="5062314"/>
            <a:ext cx="34421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Строк, символов, статус операции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34697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Структура проекта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93" y="971178"/>
            <a:ext cx="8151614" cy="3822129"/>
          </a:xfrm>
          <a:prstGeom prst="roundRect">
            <a:avLst>
              <a:gd name="adj" fmla="val 1324"/>
            </a:avLst>
          </a:prstGeom>
          <a:solidFill>
            <a:srgbClr val="C7C9EA"/>
          </a:solidFill>
          <a:ln/>
        </p:spPr>
      </p:sp>
      <p:sp>
        <p:nvSpPr>
          <p:cNvPr id="4" name="Text 2"/>
          <p:cNvSpPr/>
          <p:nvPr/>
        </p:nvSpPr>
        <p:spPr>
          <a:xfrm>
            <a:off x="616669" y="1103635"/>
            <a:ext cx="2434530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Архитектура приложения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540" y="1407096"/>
            <a:ext cx="6118845" cy="32409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50906" y="3724024"/>
            <a:ext cx="2023799" cy="189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MainWindowViewModel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850906" y="3974704"/>
            <a:ext cx="2023799" cy="139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логика состояния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659023" y="1878818"/>
            <a:ext cx="1622251" cy="189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MainWindow.xaml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59023" y="2129498"/>
            <a:ext cx="1622251" cy="139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разметка UI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93601" y="1878818"/>
            <a:ext cx="1786121" cy="189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MainWindow.xaml.cs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293601" y="2129498"/>
            <a:ext cx="1786121" cy="139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код окна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862651" y="3726127"/>
            <a:ext cx="1622252" cy="189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Services / Models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862651" y="3976808"/>
            <a:ext cx="1622252" cy="139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бизнес-логика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93" y="4908500"/>
            <a:ext cx="2648917" cy="683196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432" y="5033739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RegexService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21432" y="5288161"/>
            <a:ext cx="2398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и замена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47504" y="4908500"/>
            <a:ext cx="2648917" cy="683196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72743" y="5033739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FileService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372743" y="5288161"/>
            <a:ext cx="2398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чтение и запись файлов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98815" y="4908500"/>
            <a:ext cx="2648917" cy="683196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24054" y="5033739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FilePickerService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24054" y="5288161"/>
            <a:ext cx="2398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файла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96193" y="5694090"/>
            <a:ext cx="2648917" cy="683196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1432" y="5819329"/>
            <a:ext cx="1772617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EditorDocumentService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21432" y="6073750"/>
            <a:ext cx="2398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с RichEditBox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47504" y="5694090"/>
            <a:ext cx="2648917" cy="683196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72743" y="5819329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RegexSearchState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3372743" y="6073750"/>
            <a:ext cx="2398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 поиска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998815" y="5694090"/>
            <a:ext cx="2648917" cy="683196"/>
          </a:xfrm>
          <a:prstGeom prst="roundRect">
            <a:avLst>
              <a:gd name="adj" fmla="val 740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24054" y="5819329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SearchResult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124054" y="6073750"/>
            <a:ext cx="2398440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найденное совпадение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Работа с файлами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" y="1116360"/>
            <a:ext cx="2037904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952" y="1825154"/>
            <a:ext cx="17543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Создать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096" y="1116360"/>
            <a:ext cx="2037904" cy="567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75855" y="1825154"/>
            <a:ext cx="17543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Открыть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116360"/>
            <a:ext cx="2037904" cy="5670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3759" y="1825154"/>
            <a:ext cx="17543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Редактировать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904" y="1116360"/>
            <a:ext cx="2037904" cy="567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51662" y="1825154"/>
            <a:ext cx="17543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Сохранить</a:t>
            </a:r>
            <a:endParaRPr lang="en-US" sz="1350" dirty="0"/>
          </a:p>
        </p:txBody>
      </p:sp>
      <p:sp>
        <p:nvSpPr>
          <p:cNvPr id="11" name="Shape 5"/>
          <p:cNvSpPr/>
          <p:nvPr/>
        </p:nvSpPr>
        <p:spPr>
          <a:xfrm>
            <a:off x="496193" y="2347838"/>
            <a:ext cx="2622649" cy="831131"/>
          </a:xfrm>
          <a:prstGeom prst="roundRect">
            <a:avLst>
              <a:gd name="adj" fmla="val 71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42714" y="2494359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FilePickerService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42714" y="2805633"/>
            <a:ext cx="23296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выбор файла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260601" y="2347838"/>
            <a:ext cx="2622724" cy="831131"/>
          </a:xfrm>
          <a:prstGeom prst="roundRect">
            <a:avLst>
              <a:gd name="adj" fmla="val 71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407122" y="2494359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FileService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3407122" y="2805633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чтение и запись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025083" y="2347838"/>
            <a:ext cx="2622724" cy="831131"/>
          </a:xfrm>
          <a:prstGeom prst="roundRect">
            <a:avLst>
              <a:gd name="adj" fmla="val 71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171605" y="2494359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EditorFileState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171605" y="2805633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 документа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96193" y="3320728"/>
            <a:ext cx="8151614" cy="831131"/>
          </a:xfrm>
          <a:prstGeom prst="roundRect">
            <a:avLst>
              <a:gd name="adj" fmla="val 716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2714" y="3467249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EditorStatistics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42714" y="3778523"/>
            <a:ext cx="785857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строки и символы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96193" y="4311328"/>
            <a:ext cx="8151614" cy="552748"/>
          </a:xfrm>
          <a:prstGeom prst="roundRect">
            <a:avLst>
              <a:gd name="adj" fmla="val 10772"/>
            </a:avLst>
          </a:prstGeom>
          <a:solidFill>
            <a:srgbClr val="C7C9EA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952" y="4512097"/>
            <a:ext cx="177180" cy="14175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56890" y="4474294"/>
            <a:ext cx="80063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несохранённых изменениях пользователь получает предупреждение.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31152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Механизм поиска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96193" y="881583"/>
            <a:ext cx="8151614" cy="3971404"/>
          </a:xfrm>
          <a:prstGeom prst="roundRect">
            <a:avLst>
              <a:gd name="adj" fmla="val 1124"/>
            </a:avLst>
          </a:prstGeom>
          <a:solidFill>
            <a:srgbClr val="C7C9EA"/>
          </a:solidFill>
          <a:ln/>
        </p:spPr>
      </p:sp>
      <p:sp>
        <p:nvSpPr>
          <p:cNvPr id="4" name="Text 2"/>
          <p:cNvSpPr/>
          <p:nvPr/>
        </p:nvSpPr>
        <p:spPr>
          <a:xfrm>
            <a:off x="602456" y="987847"/>
            <a:ext cx="17862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Алгоритм поиска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467" y="1243608"/>
            <a:ext cx="6151066" cy="34931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0882" y="3857760"/>
            <a:ext cx="1470461" cy="17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Шаблон Regex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640882" y="4078906"/>
            <a:ext cx="1470461" cy="120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ввод пользователя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748052" y="1732416"/>
            <a:ext cx="1470461" cy="17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Проверка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8052" y="1953562"/>
            <a:ext cx="1470461" cy="120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IsMatch / валидация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830619" y="3857760"/>
            <a:ext cx="1470461" cy="17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Regex.Matches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830619" y="4078906"/>
            <a:ext cx="1470461" cy="120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 совпадений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038808" y="3857760"/>
            <a:ext cx="1470461" cy="17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Подсветка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38808" y="4078906"/>
            <a:ext cx="1470461" cy="120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выделение в тексте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937789" y="1732416"/>
            <a:ext cx="1470460" cy="171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SearchResult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89" y="1953562"/>
            <a:ext cx="1470460" cy="120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позиция и значение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96193" y="5032325"/>
            <a:ext cx="2353717" cy="621432"/>
          </a:xfrm>
          <a:prstGeom prst="roundRect">
            <a:avLst>
              <a:gd name="adj" fmla="val 71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7219" y="5143351"/>
            <a:ext cx="1329035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7219" y="5393903"/>
            <a:ext cx="213166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начальная позиция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929607" y="5032325"/>
            <a:ext cx="2353791" cy="621432"/>
          </a:xfrm>
          <a:prstGeom prst="roundRect">
            <a:avLst>
              <a:gd name="adj" fmla="val 71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040633" y="5143351"/>
            <a:ext cx="1329035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040633" y="5393903"/>
            <a:ext cx="213174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длина фрагмента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96193" y="5733455"/>
            <a:ext cx="4787205" cy="621432"/>
          </a:xfrm>
          <a:prstGeom prst="roundRect">
            <a:avLst>
              <a:gd name="adj" fmla="val 71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7219" y="5844480"/>
            <a:ext cx="1329035" cy="170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07219" y="6095033"/>
            <a:ext cx="456515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найденное значение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5547568" y="5032325"/>
            <a:ext cx="3105001" cy="643086"/>
          </a:xfrm>
          <a:prstGeom prst="roundRect">
            <a:avLst>
              <a:gd name="adj" fmla="val 6944"/>
            </a:avLst>
          </a:prstGeom>
          <a:solidFill>
            <a:srgbClr val="C7C9EA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832" y="5186437"/>
            <a:ext cx="132904" cy="10626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892998" y="5130626"/>
            <a:ext cx="2653308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Состояние поиска хранится в </a:t>
            </a:r>
            <a:r>
              <a:rPr lang="en-US" sz="8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RegexSearchState</a:t>
            </a: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список совпадений, текущий индекс, счётчик замен.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464433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Подсветка и навигация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" y="1351285"/>
            <a:ext cx="4327699" cy="295252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93" y="4463281"/>
            <a:ext cx="4327699" cy="552748"/>
          </a:xfrm>
          <a:prstGeom prst="roundRect">
            <a:avLst>
              <a:gd name="adj" fmla="val 10772"/>
            </a:avLst>
          </a:prstGeom>
          <a:solidFill>
            <a:srgbClr val="C7C9EA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52" y="4678338"/>
            <a:ext cx="177180" cy="1417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6890" y="4626248"/>
            <a:ext cx="418244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[Скриншот поиска по шаблону \d+]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174531" y="1204913"/>
            <a:ext cx="3477964" cy="883072"/>
          </a:xfrm>
          <a:prstGeom prst="roundRect">
            <a:avLst>
              <a:gd name="adj" fmla="val 67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21052" y="13514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Все совпадения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321052" y="1714649"/>
            <a:ext cx="3184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подсвечиваются синим фоном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174531" y="2229743"/>
            <a:ext cx="3477964" cy="883072"/>
          </a:xfrm>
          <a:prstGeom prst="roundRect">
            <a:avLst>
              <a:gd name="adj" fmla="val 67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21052" y="2376264"/>
            <a:ext cx="189897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Текущее совпадение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5321052" y="2739479"/>
            <a:ext cx="3184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выделяется отдельно жёлтым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174531" y="3254573"/>
            <a:ext cx="3477964" cy="883072"/>
          </a:xfrm>
          <a:prstGeom prst="roundRect">
            <a:avLst>
              <a:gd name="adj" fmla="val 67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321052" y="34010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Кнопки навигации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321052" y="3764310"/>
            <a:ext cx="3184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«Назад» и «Далее»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74531" y="4279404"/>
            <a:ext cx="3477964" cy="883072"/>
          </a:xfrm>
          <a:prstGeom prst="roundRect">
            <a:avLst>
              <a:gd name="adj" fmla="val 674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21052" y="4425925"/>
            <a:ext cx="21676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Циклическая навигация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321052" y="4789140"/>
            <a:ext cx="3184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переход от последнего к первому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70569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по регулярному выражению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93" y="1204913"/>
            <a:ext cx="3902869" cy="1289298"/>
          </a:xfrm>
          <a:prstGeom prst="roundRect">
            <a:avLst>
              <a:gd name="adj" fmla="val 4618"/>
            </a:avLst>
          </a:prstGeom>
          <a:solidFill>
            <a:srgbClr val="C7C9EA"/>
          </a:solidFill>
          <a:ln/>
        </p:spPr>
      </p:sp>
      <p:sp>
        <p:nvSpPr>
          <p:cNvPr id="4" name="Text 2"/>
          <p:cNvSpPr/>
          <p:nvPr/>
        </p:nvSpPr>
        <p:spPr>
          <a:xfrm>
            <a:off x="637952" y="138209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текущего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952" y="1745307"/>
            <a:ext cx="3619351" cy="58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изменяется одно выбранное совпадение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ReplaceOnlyCurrent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49701" y="1204913"/>
            <a:ext cx="3902869" cy="1289298"/>
          </a:xfrm>
          <a:prstGeom prst="roundRect">
            <a:avLst>
              <a:gd name="adj" fmla="val 4618"/>
            </a:avLst>
          </a:prstGeom>
          <a:solidFill>
            <a:srgbClr val="C7C9EA"/>
          </a:solidFill>
          <a:ln/>
        </p:spPr>
      </p:sp>
      <p:sp>
        <p:nvSpPr>
          <p:cNvPr id="7" name="Text 5"/>
          <p:cNvSpPr/>
          <p:nvPr/>
        </p:nvSpPr>
        <p:spPr>
          <a:xfrm>
            <a:off x="4891460" y="138209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всех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1460" y="1745307"/>
            <a:ext cx="3619351" cy="58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изменяются все совпадения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Regex.Replace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93" y="2813149"/>
            <a:ext cx="8151614" cy="1653183"/>
          </a:xfrm>
          <a:prstGeom prst="roundRect">
            <a:avLst>
              <a:gd name="adj" fmla="val 3602"/>
            </a:avLst>
          </a:prstGeom>
          <a:solidFill>
            <a:srgbClr val="B6FCB8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52" y="3006700"/>
            <a:ext cx="221456" cy="1771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1167" y="2990329"/>
            <a:ext cx="29662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Пример с группами захвата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01167" y="3353544"/>
            <a:ext cx="7504881" cy="94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Шаблон: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(\d{2})\.(\d{2})\.(\d{4})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Замена: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$3-$2-$1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Результат: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01.02.2025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2025-02-01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93" y="4625801"/>
            <a:ext cx="8151614" cy="552748"/>
          </a:xfrm>
          <a:prstGeom prst="roundRect">
            <a:avLst>
              <a:gd name="adj" fmla="val 10772"/>
            </a:avLst>
          </a:prstGeom>
          <a:solidFill>
            <a:srgbClr val="C7C9E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52" y="4826571"/>
            <a:ext cx="177180" cy="1417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56890" y="4788768"/>
            <a:ext cx="800635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замены приложение повторно выполняет поиск, чтобы обновить позиции совпадений.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38241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Обработка ошибок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93" y="1690167"/>
            <a:ext cx="4924351" cy="3363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93" y="5197301"/>
            <a:ext cx="564073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013103" y="1117774"/>
            <a:ext cx="2639467" cy="634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вводе некорректного шаблона (например,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(\d+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приложение </a:t>
            </a:r>
            <a:r>
              <a:rPr lang="en-US" sz="10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завершается аварийно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3630" y="1900758"/>
            <a:ext cx="201960" cy="2019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50732" y="1896666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450732" y="2234952"/>
            <a:ext cx="2201838" cy="6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Попытка создать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 Regex(pattern)</a:t>
            </a: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перехват </a:t>
            </a:r>
            <a:r>
              <a:rPr lang="en-US" sz="10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ArgumentException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3630" y="3139380"/>
            <a:ext cx="201960" cy="201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50732" y="3135288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Визуальный сигнал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450732" y="3473574"/>
            <a:ext cx="2201838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 шаблона выделяется красной рамкой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3630" y="4153644"/>
            <a:ext cx="201960" cy="2019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50732" y="4149551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Текст ошибки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450732" y="4487838"/>
            <a:ext cx="2201838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Сообщение из исключения отображается под полем ввода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63630" y="5167908"/>
            <a:ext cx="201960" cy="2019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50732" y="516381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Блокировка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6450732" y="5502101"/>
            <a:ext cx="2201838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и замена не выполняются до исправления шаблона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389855"/>
            <a:ext cx="5859735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Функциональное тестирование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93" y="1066577"/>
            <a:ext cx="8608814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Проверено 15 пользовательских сценариев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93" y="1420564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5571" y="1559942"/>
            <a:ext cx="2430661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Создание нового документа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35922" y="1420564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75299" y="1559942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Открытие файла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6193" y="2037606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71" y="2176983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Сохранение файла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35922" y="2037606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5299" y="2176983"/>
            <a:ext cx="273888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Сохранение под новым именем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6193" y="2654647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71" y="2794025"/>
            <a:ext cx="228094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Подсчёт строк и символов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35922" y="2654647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5299" y="2794025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Поиск чисел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6193" y="3271689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71" y="3411066"/>
            <a:ext cx="2102718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Поиск строк по шаблону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35922" y="3271689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5299" y="3411066"/>
            <a:ext cx="315374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Переход к следующему совпадению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6193" y="3888730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71" y="4028108"/>
            <a:ext cx="326335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Переход к предыдущему совпадению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35922" y="3888730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5299" y="4028108"/>
            <a:ext cx="254384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текущего совпадения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6193" y="4505771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71" y="4645149"/>
            <a:ext cx="2137767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всех совпадений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35922" y="4505771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5299" y="4645149"/>
            <a:ext cx="234962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Замена с группами захвата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6193" y="5122813"/>
            <a:ext cx="4011811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71" y="5262190"/>
            <a:ext cx="3290441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Некорректное регулярное выражение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35922" y="5122813"/>
            <a:ext cx="4011885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5299" y="5262190"/>
            <a:ext cx="213583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Закрытие панели поиска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96193" y="5739854"/>
            <a:ext cx="8151614" cy="489124"/>
          </a:xfrm>
          <a:prstGeom prst="roundRect">
            <a:avLst>
              <a:gd name="adj" fmla="val 1156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71" y="5879232"/>
            <a:ext cx="3215432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Проверка несохранённых изменений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93" y="130529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Результаты работы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93" y="2031802"/>
            <a:ext cx="860881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курсовой работы достигнута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93" y="2418085"/>
            <a:ext cx="4004890" cy="514499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2564606"/>
            <a:ext cx="34589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Разработан текстовый редактор на C#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418085"/>
            <a:ext cx="4004965" cy="514499"/>
          </a:xfrm>
          <a:prstGeom prst="roundRect">
            <a:avLst>
              <a:gd name="adj" fmla="val 115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2564606"/>
            <a:ext cx="28287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Реализована работа с файлами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93" y="3074343"/>
            <a:ext cx="4004890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714" y="3220864"/>
            <a:ext cx="3711848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Добавлен поиск по регулярным выражениям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3074343"/>
            <a:ext cx="4004965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9363" y="3220864"/>
            <a:ext cx="3711922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Реализована замена текущего и всех совпадений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93" y="3952056"/>
            <a:ext cx="4004890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714" y="4098578"/>
            <a:ext cx="30331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Поддерживаются группы захвата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2842" y="3952056"/>
            <a:ext cx="4004965" cy="735955"/>
          </a:xfrm>
          <a:prstGeom prst="roundRect">
            <a:avLst>
              <a:gd name="adj" fmla="val 809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9363" y="4098578"/>
            <a:ext cx="3711922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Проведено функциональное тестирование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8794" y="5006950"/>
            <a:ext cx="83962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Приложение демонстрирует применение C#, .NET 8 и WinUI 3 для обработки текстовой информации.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734</Words>
  <Application>Microsoft Office PowerPoint</Application>
  <PresentationFormat>Экран (4:3)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Inter</vt:lpstr>
      <vt:lpstr>Inter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Vadim Berbeca</dc:creator>
  <cp:lastModifiedBy>Vadim Berbeca</cp:lastModifiedBy>
  <cp:revision>2</cp:revision>
  <dcterms:created xsi:type="dcterms:W3CDTF">2026-06-11T18:48:47Z</dcterms:created>
  <dcterms:modified xsi:type="dcterms:W3CDTF">2026-06-11T20:56:12Z</dcterms:modified>
</cp:coreProperties>
</file>